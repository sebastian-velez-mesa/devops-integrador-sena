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A855F7"/>
                </a:solidFill>
                <a:latin typeface="Inter"/>
              </a:defRPr>
            </a:pPr>
            <a:r>
              <a:t>SITUACIÓN DE APRENDIZAJE INTEGRADORA - DEVOPS</a:t>
            </a:r>
          </a:p>
          <a:p>
            <a:pPr>
              <a:spcAft>
                <a:spcPts val="800"/>
              </a:spcAft>
              <a:defRPr sz="5400" b="1">
                <a:solidFill>
                  <a:srgbClr val="F0F0F5"/>
                </a:solidFill>
                <a:latin typeface="Outfit"/>
              </a:defRPr>
            </a:pPr>
            <a:r>
              <a:t>SENA DevOps &amp; Cloud Fest 2026</a:t>
            </a:r>
          </a:p>
          <a:p>
            <a:pPr>
              <a:spcAft>
                <a:spcPts val="4500"/>
              </a:spcAft>
              <a:defRPr sz="2200">
                <a:solidFill>
                  <a:srgbClr val="06B6D4"/>
                </a:solidFill>
                <a:latin typeface="Inter"/>
              </a:defRPr>
            </a:pPr>
            <a:r>
              <a:t>Sustentación Técnica del Proyecto Multicontenedor y Pipeline CI/CD</a:t>
            </a:r>
          </a:p>
          <a:p>
            <a:pPr>
              <a:defRPr sz="1300">
                <a:solidFill>
                  <a:srgbClr val="B4B4C8"/>
                </a:solidFill>
                <a:latin typeface="Inter"/>
              </a:defRPr>
            </a:pPr>
            <a:r>
              <a:t>Programa de Formación: DevOps y Contenedores (Docker)</a:t>
            </a:r>
            <a:br/>
            <a:r>
              <a:t>Centro de Tecnología y Manufactura Avanzada (CTMA)</a:t>
            </a:r>
            <a:br/>
            <a:r>
              <a:t>Instructor: Elkin Moreno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Outfit"/>
              </a:defRPr>
            </a:pPr>
            <a:r>
              <a:t>1. Introducción y Contextualización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600"/>
              </a:spcAft>
            </a:pPr>
            <a:r>
              <a:t>• </a:t>
            </a:r>
            <a:r>
              <a:rPr sz="1600" b="1">
                <a:solidFill>
                  <a:srgbClr val="A855F7"/>
                </a:solidFill>
                <a:latin typeface="Inter"/>
              </a:rPr>
              <a:t>Nombre del Proyecto: </a:t>
            </a:r>
            <a:r>
              <a:rPr sz="1600">
                <a:solidFill>
                  <a:srgbClr val="F0F0F5"/>
                </a:solidFill>
                <a:latin typeface="Inter"/>
              </a:rPr>
              <a:t>SENA DevOps &amp; Cloud Fest 2026 - Portal Web Académico/Cultural.</a:t>
            </a:r>
          </a:p>
          <a:p>
            <a:pPr>
              <a:spcAft>
                <a:spcPts val="1600"/>
              </a:spcAft>
            </a:pPr>
            <a:r>
              <a:t>• </a:t>
            </a:r>
            <a:r>
              <a:rPr sz="1600" b="1">
                <a:solidFill>
                  <a:srgbClr val="A855F7"/>
                </a:solidFill>
                <a:latin typeface="Inter"/>
              </a:rPr>
              <a:t>Problema que Resuelve: </a:t>
            </a:r>
            <a:r>
              <a:rPr sz="1600">
                <a:solidFill>
                  <a:srgbClr val="F0F0F5"/>
                </a:solidFill>
                <a:latin typeface="Inter"/>
              </a:rPr>
              <a:t>Falta de demostración práctica en vivo de infraestructuras DevOps. Este proyecto unifica desarrollo ágil (Git Flow), contenedores e integración continua en una interfaz viva que expone sus propias métricas.</a:t>
            </a:r>
          </a:p>
          <a:p>
            <a:pPr>
              <a:spcAft>
                <a:spcPts val="1600"/>
              </a:spcAft>
            </a:pPr>
            <a:r>
              <a:t>• </a:t>
            </a:r>
            <a:r>
              <a:rPr sz="1600" b="1">
                <a:solidFill>
                  <a:srgbClr val="A855F7"/>
                </a:solidFill>
                <a:latin typeface="Inter"/>
              </a:rPr>
              <a:t>Objetivo General: </a:t>
            </a:r>
            <a:r>
              <a:rPr sz="1600">
                <a:solidFill>
                  <a:srgbClr val="F0F0F5"/>
                </a:solidFill>
                <a:latin typeface="Inter"/>
              </a:rPr>
              <a:t>Integrar y demostrar los conocimientos adquiridos en las semanas 1 a 7 (Docker, Redes, Volúmenes, Git, Pipelines CI/CD) mediante una aplicación multicontenedor altamente visual.</a:t>
            </a:r>
          </a:p>
          <a:p>
            <a:pPr>
              <a:spcAft>
                <a:spcPts val="1600"/>
              </a:spcAft>
            </a:pPr>
            <a:r>
              <a:t>• </a:t>
            </a:r>
            <a:r>
              <a:rPr sz="1600" b="1">
                <a:solidFill>
                  <a:srgbClr val="A855F7"/>
                </a:solidFill>
                <a:latin typeface="Inter"/>
              </a:rPr>
              <a:t>Usuarios Beneficiados: </a:t>
            </a:r>
            <a:r>
              <a:rPr sz="1600">
                <a:solidFill>
                  <a:srgbClr val="F0F0F5"/>
                </a:solidFill>
                <a:latin typeface="Inter"/>
              </a:rPr>
              <a:t>Comité evaluador, instructores y aprendices del programa de tecnología, sirviendo de plantilla base de producción para proyectos escolares.</a:t>
            </a:r>
          </a:p>
          <a:p>
            <a:pPr>
              <a:spcAft>
                <a:spcPts val="1600"/>
              </a:spcAft>
            </a:pPr>
            <a:r>
              <a:t>• </a:t>
            </a:r>
            <a:r>
              <a:rPr sz="1600" b="1">
                <a:solidFill>
                  <a:srgbClr val="A855F7"/>
                </a:solidFill>
                <a:latin typeface="Inter"/>
              </a:rPr>
              <a:t>Tecnologías Core: </a:t>
            </a:r>
            <a:r>
              <a:rPr sz="1600">
                <a:solidFill>
                  <a:srgbClr val="F0F0F5"/>
                </a:solidFill>
                <a:latin typeface="Inter"/>
              </a:rPr>
              <a:t>Frontend Nginx (Alpine), Backend Flask (Python 3.11), WSGI Gunicorn, GitHub Actions, Docker &amp; Docker Compose.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Outfit"/>
              </a:defRPr>
            </a:pPr>
            <a:r>
              <a:t>2. Arquitectura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0F0F5"/>
                </a:solidFill>
                <a:latin typeface="Inter"/>
              </a:defRPr>
            </a:pPr>
            <a:r>
              <a:t>La solución implementa una topología desacoplada en base a microservicios orquestados:</a:t>
            </a:r>
          </a:p>
          <a:p>
            <a:pPr>
              <a:spcAft>
                <a:spcPts val="1200"/>
              </a:spcAft>
            </a:pPr>
            <a:r>
              <a:t>➤ </a:t>
            </a:r>
            <a:r>
              <a:rPr sz="1500" b="1">
                <a:solidFill>
                  <a:srgbClr val="06B6D4"/>
                </a:solidFill>
                <a:latin typeface="Inter"/>
              </a:rPr>
              <a:t>Frontend Nginx (puerto 8080:80): </a:t>
            </a:r>
            <a:r>
              <a:rPr sz="1500">
                <a:solidFill>
                  <a:srgbClr val="F0F0F5"/>
                </a:solidFill>
                <a:latin typeface="Inter"/>
              </a:rPr>
              <a:t>Sirve el código estático (HTML, CSS, JS). Realiza peticiones asíncronas desde el navegador del cliente hacia el backend.</a:t>
            </a:r>
          </a:p>
          <a:p>
            <a:pPr>
              <a:spcAft>
                <a:spcPts val="1200"/>
              </a:spcAft>
            </a:pPr>
            <a:r>
              <a:t>➤ </a:t>
            </a:r>
            <a:r>
              <a:rPr sz="1500" b="1">
                <a:solidFill>
                  <a:srgbClr val="06B6D4"/>
                </a:solidFill>
                <a:latin typeface="Inter"/>
              </a:rPr>
              <a:t>Backend Flask (puerto 5000:5000): </a:t>
            </a:r>
            <a:r>
              <a:rPr sz="1500">
                <a:solidFill>
                  <a:srgbClr val="F0F0F5"/>
                </a:solidFill>
                <a:latin typeface="Inter"/>
              </a:rPr>
              <a:t>API REST de Python que procesa solicitudes del festival y métricas de infraestructura. Servido por Gunicorn.</a:t>
            </a:r>
          </a:p>
          <a:p>
            <a:pPr>
              <a:spcAft>
                <a:spcPts val="1200"/>
              </a:spcAft>
            </a:pPr>
            <a:r>
              <a:t>➤ </a:t>
            </a:r>
            <a:r>
              <a:rPr sz="1500" b="1">
                <a:solidFill>
                  <a:srgbClr val="06B6D4"/>
                </a:solidFill>
                <a:latin typeface="Inter"/>
              </a:rPr>
              <a:t>Red Bridge Privada ('devops-network'): </a:t>
            </a:r>
            <a:r>
              <a:rPr sz="1500">
                <a:solidFill>
                  <a:srgbClr val="F0F0F5"/>
                </a:solidFill>
                <a:latin typeface="Inter"/>
              </a:rPr>
              <a:t>Garantiza aislamiento. Los contenedores se descubren por nombre DNS interno sin necesidad de mapear puertos del host públicamente.</a:t>
            </a:r>
          </a:p>
          <a:p>
            <a:pPr>
              <a:spcAft>
                <a:spcPts val="1200"/>
              </a:spcAft>
            </a:pPr>
            <a:r>
              <a:t>➤ </a:t>
            </a:r>
            <a:r>
              <a:rPr sz="1500" b="1">
                <a:solidFill>
                  <a:srgbClr val="06B6D4"/>
                </a:solidFill>
                <a:latin typeface="Inter"/>
              </a:rPr>
              <a:t>Volumen Persistente ('devops-backend-logs'): </a:t>
            </a:r>
            <a:r>
              <a:rPr sz="1500">
                <a:solidFill>
                  <a:srgbClr val="F0F0F5"/>
                </a:solidFill>
                <a:latin typeface="Inter"/>
              </a:rPr>
              <a:t>Almacena los logs (/app/logs/festival.log) y registros de contacto (/app/logs/contactos.json). Los datos persisten aunque se re-inicialice el contenedor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Outfit"/>
              </a:defRPr>
            </a:pPr>
            <a:r>
              <a:t>3. Decisiones de Diseño y Contenedores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</a:pPr>
            <a:r>
              <a:t>✔ </a:t>
            </a:r>
            <a:r>
              <a:rPr sz="1500" b="1">
                <a:solidFill>
                  <a:srgbClr val="A855F7"/>
                </a:solidFill>
                <a:latin typeface="Inter"/>
              </a:rPr>
              <a:t>Optimización de Imagen Base: </a:t>
            </a:r>
            <a:r>
              <a:rPr sz="1500">
                <a:solidFill>
                  <a:srgbClr val="F0F0F5"/>
                </a:solidFill>
                <a:latin typeface="Inter"/>
              </a:rPr>
              <a:t>Utilización de 'python:3.11-slim' para minimizar el tamaño de la imagen (~150MB en vez de ~900MB de Python completo), reduciendo superficie de ataque y agilizando despliegues.</a:t>
            </a:r>
          </a:p>
          <a:p>
            <a:pPr>
              <a:spcAft>
                <a:spcPts val="1400"/>
              </a:spcAft>
            </a:pPr>
            <a:r>
              <a:t>✔ </a:t>
            </a:r>
            <a:r>
              <a:rPr sz="1500" b="1">
                <a:solidFill>
                  <a:srgbClr val="A855F7"/>
                </a:solidFill>
                <a:latin typeface="Inter"/>
              </a:rPr>
              <a:t>Seguridad (Ejecución sin privilegios): </a:t>
            </a:r>
            <a:r>
              <a:rPr sz="1500">
                <a:solidFill>
                  <a:srgbClr val="F0F0F5"/>
                </a:solidFill>
                <a:latin typeface="Inter"/>
              </a:rPr>
              <a:t>Configuración de un usuario y grupo del sistema sin privilegios ('devopsuser') en el Dockerfile del backend. Si el contenedor se ve comprometido, el atacante no obtendrá acceso root.</a:t>
            </a:r>
          </a:p>
          <a:p>
            <a:pPr>
              <a:spcAft>
                <a:spcPts val="1400"/>
              </a:spcAft>
            </a:pPr>
            <a:r>
              <a:t>✔ </a:t>
            </a:r>
            <a:r>
              <a:rPr sz="1500" b="1">
                <a:solidFill>
                  <a:srgbClr val="A855F7"/>
                </a:solidFill>
                <a:latin typeface="Inter"/>
              </a:rPr>
              <a:t>Comprobación de Salud Activa (Healthcheck): </a:t>
            </a:r>
            <a:r>
              <a:rPr sz="1500">
                <a:solidFill>
                  <a:srgbClr val="F0F0F5"/>
                </a:solidFill>
                <a:latin typeface="Inter"/>
              </a:rPr>
              <a:t>El backend define un comando healthcheck nativo usando curl en el puerto 5000/health, permitiendo que Compose determine si el servicio está operativo.</a:t>
            </a:r>
          </a:p>
          <a:p>
            <a:pPr>
              <a:spcAft>
                <a:spcPts val="1400"/>
              </a:spcAft>
            </a:pPr>
            <a:r>
              <a:t>✔ </a:t>
            </a:r>
            <a:r>
              <a:rPr sz="1500" b="1">
                <a:solidFill>
                  <a:srgbClr val="A855F7"/>
                </a:solidFill>
                <a:latin typeface="Inter"/>
              </a:rPr>
              <a:t>Dependencias de Inicio Condicionales (depends_on): </a:t>
            </a:r>
            <a:r>
              <a:rPr sz="1500">
                <a:solidFill>
                  <a:srgbClr val="F0F0F5"/>
                </a:solidFill>
                <a:latin typeface="Inter"/>
              </a:rPr>
              <a:t>El frontend Nginx arranca únicamente después de que el backend pasa satisfactoriamente su control de salud, evitando peticiones vacías al inicio.</a:t>
            </a:r>
          </a:p>
          <a:p>
            <a:pPr>
              <a:spcAft>
                <a:spcPts val="1400"/>
              </a:spcAft>
            </a:pPr>
            <a:r>
              <a:t>✔ </a:t>
            </a:r>
            <a:r>
              <a:rPr sz="1500" b="1">
                <a:solidFill>
                  <a:srgbClr val="A855F7"/>
                </a:solidFill>
                <a:latin typeface="Inter"/>
              </a:rPr>
              <a:t>Capa de Logs y Persistencia: </a:t>
            </a:r>
            <a:r>
              <a:rPr sz="1500">
                <a:solidFill>
                  <a:srgbClr val="F0F0F5"/>
                </a:solidFill>
                <a:latin typeface="Inter"/>
              </a:rPr>
              <a:t>Los logs son formateados a nivel de aplicación e interactúan directamente con el Dashboard DevOps en el frontend.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Outfit"/>
              </a:defRPr>
            </a:pPr>
            <a:r>
              <a:t>4. Pipeline de CI/CD Automatizado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0F0F5"/>
                </a:solidFill>
                <a:latin typeface="Inter"/>
              </a:defRPr>
            </a:pPr>
            <a:r>
              <a:t>GitHub Actions Workflow (.github/workflows/ci-cd.yml) para automatización completa:</a:t>
            </a:r>
          </a:p>
          <a:p>
            <a:pPr>
              <a:spcAft>
                <a:spcPts val="1200"/>
              </a:spcAft>
            </a:pPr>
            <a:r>
              <a:t>⚡ </a:t>
            </a:r>
            <a:r>
              <a:rPr sz="1500" b="1">
                <a:solidFill>
                  <a:srgbClr val="06B6D4"/>
                </a:solidFill>
                <a:latin typeface="Inter"/>
              </a:rPr>
              <a:t>Disparadores (Triggers): </a:t>
            </a:r>
            <a:r>
              <a:rPr sz="1500">
                <a:solidFill>
                  <a:srgbClr val="F0F0F5"/>
                </a:solidFill>
                <a:latin typeface="Inter"/>
              </a:rPr>
              <a:t>Ejecutado automáticamente ante cualquier Push o Pull Request en las ramas 'main' y 'develop'.</a:t>
            </a:r>
          </a:p>
          <a:p>
            <a:pPr>
              <a:spcAft>
                <a:spcPts val="1200"/>
              </a:spcAft>
            </a:pPr>
            <a:r>
              <a:t>⚡ </a:t>
            </a:r>
            <a:r>
              <a:rPr sz="1500" b="1">
                <a:solidFill>
                  <a:srgbClr val="06B6D4"/>
                </a:solidFill>
                <a:latin typeface="Inter"/>
              </a:rPr>
              <a:t>Fase de Control de Calidad (Linting): </a:t>
            </a:r>
            <a:r>
              <a:rPr sz="1500">
                <a:solidFill>
                  <a:srgbClr val="F0F0F5"/>
                </a:solidFill>
                <a:latin typeface="Inter"/>
              </a:rPr>
              <a:t>Usa 'flake8' para auditar errores de sintaxis y guías de estilo en Python, previniendo fallos en producción.</a:t>
            </a:r>
          </a:p>
          <a:p>
            <a:pPr>
              <a:spcAft>
                <a:spcPts val="1200"/>
              </a:spcAft>
            </a:pPr>
            <a:r>
              <a:t>⚡ </a:t>
            </a:r>
            <a:r>
              <a:rPr sz="1500" b="1">
                <a:solidFill>
                  <a:srgbClr val="06B6D4"/>
                </a:solidFill>
                <a:latin typeface="Inter"/>
              </a:rPr>
              <a:t>Fase de Pruebas Unitarias (Testing): </a:t>
            </a:r>
            <a:r>
              <a:rPr sz="1500">
                <a:solidFill>
                  <a:srgbClr val="F0F0F5"/>
                </a:solidFill>
                <a:latin typeface="Inter"/>
              </a:rPr>
              <a:t>Ejecuta 'pytest' sobre el backend para validar que todas las rutas clave de la API (/, /health, /api/artistas, /api/contacto) devuelvan estados HTTP válidos.</a:t>
            </a:r>
          </a:p>
          <a:p>
            <a:pPr>
              <a:spcAft>
                <a:spcPts val="1200"/>
              </a:spcAft>
            </a:pPr>
            <a:r>
              <a:t>⚡ </a:t>
            </a:r>
            <a:r>
              <a:rPr sz="1500" b="1">
                <a:solidFill>
                  <a:srgbClr val="06B6D4"/>
                </a:solidFill>
                <a:latin typeface="Inter"/>
              </a:rPr>
              <a:t>Fase de Validación de Compilación (Build): </a:t>
            </a:r>
            <a:r>
              <a:rPr sz="1500">
                <a:solidFill>
                  <a:srgbClr val="F0F0F5"/>
                </a:solidFill>
                <a:latin typeface="Inter"/>
              </a:rPr>
              <a:t>Realiza builds simulados de las imágenes Docker (backend y frontend) para asegurar que el código compile y los archivos Dockerfile sean correctos antes de desplegar.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Outfit"/>
              </a:defRPr>
            </a:pPr>
            <a:r>
              <a:t>5. Conclusiones y Aprendizajes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500"/>
              </a:spcAft>
            </a:pPr>
            <a:r>
              <a:t>💡 </a:t>
            </a:r>
            <a:r>
              <a:rPr sz="1500" b="1">
                <a:solidFill>
                  <a:srgbClr val="A855F7"/>
                </a:solidFill>
                <a:latin typeface="Inter"/>
              </a:rPr>
              <a:t>Dificultad Encontrada / Solución: </a:t>
            </a:r>
            <a:r>
              <a:rPr sz="1500">
                <a:solidFill>
                  <a:srgbClr val="F0F0F5"/>
                </a:solidFill>
                <a:latin typeface="Inter"/>
              </a:rPr>
              <a:t>Establecer la comunicación inter-contenedores. Se resolvió estructurando una red bridge de Docker y vinculando las consultas fetch a la IP pública del host de forma asíncrona.</a:t>
            </a:r>
          </a:p>
          <a:p>
            <a:pPr>
              <a:spcAft>
                <a:spcPts val="1500"/>
              </a:spcAft>
            </a:pPr>
            <a:r>
              <a:t>💡 </a:t>
            </a:r>
            <a:r>
              <a:rPr sz="1500" b="1">
                <a:solidFill>
                  <a:srgbClr val="A855F7"/>
                </a:solidFill>
                <a:latin typeface="Inter"/>
              </a:rPr>
              <a:t>Cultura DevOps Aplicada: </a:t>
            </a:r>
            <a:r>
              <a:rPr sz="1500">
                <a:solidFill>
                  <a:srgbClr val="F0F0F5"/>
                </a:solidFill>
                <a:latin typeface="Inter"/>
              </a:rPr>
              <a:t>Automatización desde el primer commit. El testing e integración continua garantizan la estabilidad del software eliminando el clásico 'en mi máquina funciona'.</a:t>
            </a:r>
          </a:p>
          <a:p>
            <a:pPr>
              <a:spcAft>
                <a:spcPts val="1500"/>
              </a:spcAft>
            </a:pPr>
            <a:r>
              <a:t>💡 </a:t>
            </a:r>
            <a:r>
              <a:rPr sz="1500" b="1">
                <a:solidFill>
                  <a:srgbClr val="A855F7"/>
                </a:solidFill>
                <a:latin typeface="Inter"/>
              </a:rPr>
              <a:t>Aprendizaje Adquirido: </a:t>
            </a:r>
            <a:r>
              <a:rPr sz="1500">
                <a:solidFill>
                  <a:srgbClr val="F0F0F5"/>
                </a:solidFill>
                <a:latin typeface="Inter"/>
              </a:rPr>
              <a:t>Comprensión profunda de la gestión de redes Docker, montajes de volúmenes persistentes y encapsulamiento de dependencias de sistema mediante Dockerfiles optimizados.</a:t>
            </a:r>
          </a:p>
          <a:p>
            <a:pPr>
              <a:spcAft>
                <a:spcPts val="1500"/>
              </a:spcAft>
            </a:pPr>
            <a:r>
              <a:t>💡 </a:t>
            </a:r>
            <a:r>
              <a:rPr sz="1500" b="1">
                <a:solidFill>
                  <a:srgbClr val="A855F7"/>
                </a:solidFill>
                <a:latin typeface="Inter"/>
              </a:rPr>
              <a:t>Mejoras Futuras: </a:t>
            </a:r>
            <a:r>
              <a:rPr sz="1500">
                <a:solidFill>
                  <a:srgbClr val="F0F0F5"/>
                </a:solidFill>
                <a:latin typeface="Inter"/>
              </a:rPr>
              <a:t>Implementación de una base de datos real persistente (e.g., PostgreSQL) como contenedor adicional en Compose, encriptación TLS con Nginx proxy reverso y orquestación con Kubernetes.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